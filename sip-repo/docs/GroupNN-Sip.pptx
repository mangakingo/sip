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3c63b12e-8960-bd38-856c-25b92b6e2344}">
          <p14:sldIdLst>
            <p14:sldId id="256"/>
            <p14:sldId id="257"/>
          </p14:sldIdLst>
        </p14:section>
        <p14:section name="Architecture" id="{ef7c3a2f-74e9-7734-5d65-33f5a92f122f}">
          <p14:sldIdLst>
            <p14:sldId id="258"/>
            <p14:sldId id="259"/>
            <p14:sldId id="260"/>
          </p14:sldIdLst>
        </p14:section>
        <p14:section name="Progress" id="{428fe1ce-3a81-843c-1dd8-e4b631a9c789}">
          <p14:sldIdLst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Next steps" id="{70a8d4c7-a49b-fc3b-9624-c10de9f64ca6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Thirty seconds. Name the project, name the team, move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minute. The last bullet is the defensible part — lead with it if asked about competitors.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Ninety seconds. Three design decisions worth naming: photos bypass Lambda via presigned URLs; the Cognito authorizer validates JWTs before our code runs; an S3 gateway endpoint carries photo traffic privately. Together those are why there is no NAT gateway, which would have cost about thirty-two dollars a month outside the free tier.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Forty-five seconds. Do not read the table — point at it and name the two or three you want credit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Thirty seconds. "Reproducible from one command" is the line that matters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minute. This is the technical-progress slide; the demo backs it up, so keep it brisk.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Thirty seconds. Say plainly this is design, not running code. The Post tab is the one worth pausing on: requiring a review before you can speak is the moderation strategy.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Forty-five seconds. Compare is the whole product — lead with it. Location detail is where Google Places integration lands, and the menu there carries ratings their real menu never will.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Forty-five seconds. The modified toggle protects the integrity of the aggregate. Review again is the partial unique index made visible — and that constraint is already working in the deployed API.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Thirty seconds. Ranks deliberately exclude replies — ranking on comments turns a review app into a comment farm. The empty state is our answer to cold start.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Forty-five seconds. The NAT story and the circular dependency are the two worth telling — one is a cost decision, the other shows you understand how CloudFormation orders resources.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Forty-five seconds. Naming the menu-entry problem before anyone asks reads as planning, not as a gap.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24528"/>
            <a:ext cx="12188952" cy="6400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914400" y="2286000"/>
            <a:ext cx="103327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914400" y="4526280"/>
            <a:ext cx="1033272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078992"/>
            <a:ext cx="1097280" cy="457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731520" y="411480"/>
            <a:ext cx="1069848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731520" y="1417320"/>
            <a:ext cx="10698480" cy="47548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700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078992"/>
            <a:ext cx="1097280" cy="457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731520" y="411480"/>
            <a:ext cx="1069848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914400" y="2286000"/>
            <a:ext cx="10332720" cy="1371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Sip</a:t>
            </a:r>
            <a:endParaRPr lang="en-US" sz="54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914400" y="4526280"/>
            <a:ext cx="10332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BFAF7"/>
                </a:solidFill>
              </a:rPr>
              <a:t>Drink-level reviews for coffee, tea, and matcha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Midpoint Evaluation  ·  CSE 4333/5333 Cloud Computing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Oscar Barrios Jimenez (oxb3281)  ·  Evan Willsey (exw1419)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31520" y="41148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problem, and what we built instead</a:t>
            </a:r>
            <a:endParaRPr lang="en-US" sz="3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731520" y="141732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Yelp and Google rate the coffee shop — a blend of ambiance, seating, Wi-Fi, and service. Drink quality is buried inside a single star score.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A four-star shop tells you nothing about whether its oat milk latte is good.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Sip rates the drink. Search "Oat Milk Latte" and see every version across the metro, ranked on drink quality alone.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Reviews attach to a preloaded menu item, not free text. That constraint is what makes cross-location aggregation possible — and what incumbents cannot retrofit onto millions of free-text reviews.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31520" y="41148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Current architecture</a:t>
            </a:r>
            <a:endParaRPr lang="en-US" sz="3000" dirty="0"/>
          </a:p>
        </p:txBody>
      </p:sp>
      <p:sp>
        <p:nvSpPr>
          <p:cNvPr id="3" name="VPC boundary"/>
          <p:cNvSpPr/>
          <p:nvPr/>
        </p:nvSpPr>
        <p:spPr>
          <a:xfrm>
            <a:off x="685800" y="3657600"/>
            <a:ext cx="10789920" cy="2331720"/>
          </a:xfrm>
          <a:prstGeom prst="rect">
            <a:avLst/>
          </a:prstGeom>
          <a:solidFill>
            <a:srgbClr val="EFECE5"/>
          </a:solidFill>
          <a:ln w="12700">
            <a:solidFill>
              <a:srgbClr val="4A7C62"/>
            </a:solidFill>
            <a:prstDash val="dash"/>
          </a:ln>
        </p:spPr>
      </p:sp>
      <p:sp>
        <p:nvSpPr>
          <p:cNvPr id="4" name="Text 2"/>
          <p:cNvSpPr txBox="1"/>
          <p:nvPr/>
        </p:nvSpPr>
        <p:spPr>
          <a:xfrm>
            <a:off x="822960" y="37307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7C62"/>
                </a:solidFill>
              </a:rPr>
              <a:t>VPC  ·  private subnets, two availability zones  ·  no NAT gateway</a:t>
            </a:r>
            <a:endParaRPr lang="en-US" sz="1100" dirty="0"/>
          </a:p>
        </p:txBody>
      </p:sp>
      <p:sp>
        <p:nvSpPr>
          <p:cNvPr id="5" name="Client"/>
          <p:cNvSpPr/>
          <p:nvPr/>
        </p:nvSpPr>
        <p:spPr>
          <a:xfrm>
            <a:off x="822960" y="1371600"/>
            <a:ext cx="2103120" cy="777240"/>
          </a:xfrm>
          <a:prstGeom prst="roundRect">
            <a:avLst>
              <a:gd name="adj" fmla="val 7059"/>
            </a:avLst>
          </a:prstGeom>
          <a:solidFill>
            <a:srgbClr val="FBFAF7"/>
          </a:solidFill>
          <a:ln w="6350">
            <a:solidFill>
              <a:srgbClr val="4A443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371600"/>
            <a:ext cx="210312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1D1A"/>
                </a:solidFill>
              </a:rPr>
              <a:t>Client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F1D1A"/>
                </a:solidFill>
              </a:rPr>
              <a:t>Browser / Expo</a:t>
            </a:r>
            <a:endParaRPr lang="en-US" sz="1300" dirty="0"/>
          </a:p>
        </p:txBody>
      </p:sp>
      <p:sp>
        <p:nvSpPr>
          <p:cNvPr id="7" name="Amazon Cognito"/>
          <p:cNvSpPr/>
          <p:nvPr/>
        </p:nvSpPr>
        <p:spPr>
          <a:xfrm>
            <a:off x="3749040" y="1371600"/>
            <a:ext cx="2286000" cy="777240"/>
          </a:xfrm>
          <a:prstGeom prst="roundRect">
            <a:avLst>
              <a:gd name="adj" fmla="val 7059"/>
            </a:avLst>
          </a:prstGeom>
          <a:solidFill>
            <a:srgbClr val="FBFAF7"/>
          </a:solidFill>
          <a:ln w="6350">
            <a:solidFill>
              <a:srgbClr val="4A443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749040" y="1371600"/>
            <a:ext cx="228600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1D1A"/>
                </a:solidFill>
              </a:rPr>
              <a:t>Amazon Cognito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F1D1A"/>
                </a:solidFill>
              </a:rPr>
              <a:t>User pool, issues JWT</a:t>
            </a:r>
            <a:endParaRPr lang="en-US" sz="1300" dirty="0"/>
          </a:p>
        </p:txBody>
      </p:sp>
      <p:sp>
        <p:nvSpPr>
          <p:cNvPr id="9" name="API Gateway (HTTP)"/>
          <p:cNvSpPr/>
          <p:nvPr/>
        </p:nvSpPr>
        <p:spPr>
          <a:xfrm>
            <a:off x="6858000" y="1371600"/>
            <a:ext cx="2743200" cy="777240"/>
          </a:xfrm>
          <a:prstGeom prst="roundRect">
            <a:avLst>
              <a:gd name="adj" fmla="val 7059"/>
            </a:avLst>
          </a:prstGeom>
          <a:solidFill>
            <a:srgbClr val="4A7C62"/>
          </a:solidFill>
          <a:ln w="6350">
            <a:solidFill>
              <a:srgbClr val="4A443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0" y="1371600"/>
            <a:ext cx="274320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BFAF7"/>
                </a:solidFill>
              </a:rPr>
              <a:t>API Gateway (HTTP)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BFAF7"/>
                </a:solidFill>
              </a:rPr>
              <a:t>JWT validated at the edge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926080" y="1764792"/>
            <a:ext cx="822960" cy="0"/>
          </a:xfrm>
          <a:prstGeom prst="line">
            <a:avLst/>
          </a:prstGeom>
          <a:noFill/>
          <a:ln w="15875">
            <a:solidFill>
              <a:srgbClr val="4A443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035040" y="1764792"/>
            <a:ext cx="822960" cy="0"/>
          </a:xfrm>
          <a:prstGeom prst="line">
            <a:avLst/>
          </a:prstGeom>
          <a:noFill/>
          <a:ln w="15875">
            <a:solidFill>
              <a:srgbClr val="4A4438"/>
            </a:solidFill>
            <a:prstDash val="solid"/>
            <a:tailEnd type="triangle"/>
          </a:ln>
        </p:spPr>
      </p:sp>
      <p:sp>
        <p:nvSpPr>
          <p:cNvPr id="13" name="S3: photos"/>
          <p:cNvSpPr/>
          <p:nvPr/>
        </p:nvSpPr>
        <p:spPr>
          <a:xfrm>
            <a:off x="822960" y="2651760"/>
            <a:ext cx="2103120" cy="731520"/>
          </a:xfrm>
          <a:prstGeom prst="roundRect">
            <a:avLst>
              <a:gd name="adj" fmla="val 7500"/>
            </a:avLst>
          </a:prstGeom>
          <a:solidFill>
            <a:srgbClr val="8C6239"/>
          </a:solidFill>
          <a:ln w="6350">
            <a:solidFill>
              <a:srgbClr val="4A443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2651760"/>
            <a:ext cx="210312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BFAF7"/>
                </a:solidFill>
              </a:rPr>
              <a:t>S3: photos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BFAF7"/>
                </a:solidFill>
              </a:rPr>
              <a:t>originals/ and thumbs/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874520" y="2148840"/>
            <a:ext cx="0" cy="502920"/>
          </a:xfrm>
          <a:prstGeom prst="line">
            <a:avLst/>
          </a:prstGeom>
          <a:noFill/>
          <a:ln w="15875">
            <a:solidFill>
              <a:srgbClr val="4A4438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2011680" y="22128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558"/>
                </a:solidFill>
              </a:rPr>
              <a:t>presigned PUT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229600" y="2148840"/>
            <a:ext cx="0" cy="1691640"/>
          </a:xfrm>
          <a:prstGeom prst="line">
            <a:avLst/>
          </a:prstGeom>
          <a:noFill/>
          <a:ln w="15875">
            <a:solidFill>
              <a:srgbClr val="4A4438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663440" y="3840480"/>
            <a:ext cx="5120640" cy="0"/>
          </a:xfrm>
          <a:prstGeom prst="line">
            <a:avLst/>
          </a:prstGeom>
          <a:noFill/>
          <a:ln w="15875">
            <a:solidFill>
              <a:srgbClr val="4A443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3840480"/>
            <a:ext cx="0" cy="274320"/>
          </a:xfrm>
          <a:prstGeom prst="line">
            <a:avLst/>
          </a:prstGeom>
          <a:noFill/>
          <a:ln w="15875">
            <a:solidFill>
              <a:srgbClr val="4A4438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223760" y="3840480"/>
            <a:ext cx="0" cy="274320"/>
          </a:xfrm>
          <a:prstGeom prst="line">
            <a:avLst/>
          </a:prstGeom>
          <a:noFill/>
          <a:ln w="15875">
            <a:solidFill>
              <a:srgbClr val="4A443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784080" y="3840480"/>
            <a:ext cx="0" cy="274320"/>
          </a:xfrm>
          <a:prstGeom prst="line">
            <a:avLst/>
          </a:prstGeom>
          <a:noFill/>
          <a:ln w="15875">
            <a:solidFill>
              <a:srgbClr val="4A4438"/>
            </a:solidFill>
            <a:prstDash val="solid"/>
            <a:tailEnd type="triangle"/>
          </a:ln>
        </p:spPr>
      </p:sp>
      <p:sp>
        <p:nvSpPr>
          <p:cNvPr id="22" name="processPhoto"/>
          <p:cNvSpPr/>
          <p:nvPr/>
        </p:nvSpPr>
        <p:spPr>
          <a:xfrm>
            <a:off x="1005840" y="4114800"/>
            <a:ext cx="1737360" cy="868680"/>
          </a:xfrm>
          <a:prstGeom prst="roundRect">
            <a:avLst>
              <a:gd name="adj" fmla="val 6316"/>
            </a:avLst>
          </a:prstGeom>
          <a:solidFill>
            <a:srgbClr val="7FA68A"/>
          </a:solidFill>
          <a:ln w="6350">
            <a:solidFill>
              <a:srgbClr val="4A443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05840" y="4114800"/>
            <a:ext cx="173736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1D1A"/>
                </a:solidFill>
              </a:rPr>
              <a:t>processPhoto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F1D1A"/>
                </a:solidFill>
              </a:rPr>
              <a:t>Lambda, S3-triggered</a:t>
            </a:r>
            <a:endParaRPr lang="en-US" sz="1300" dirty="0"/>
          </a:p>
        </p:txBody>
      </p:sp>
      <p:sp>
        <p:nvSpPr>
          <p:cNvPr id="24" name="presignUpload"/>
          <p:cNvSpPr/>
          <p:nvPr/>
        </p:nvSpPr>
        <p:spPr>
          <a:xfrm>
            <a:off x="3794760" y="4114800"/>
            <a:ext cx="1737360" cy="868680"/>
          </a:xfrm>
          <a:prstGeom prst="roundRect">
            <a:avLst>
              <a:gd name="adj" fmla="val 6316"/>
            </a:avLst>
          </a:prstGeom>
          <a:solidFill>
            <a:srgbClr val="FBFAF7"/>
          </a:solidFill>
          <a:ln w="6350">
            <a:solidFill>
              <a:srgbClr val="4A443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794760" y="4114800"/>
            <a:ext cx="173736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1D1A"/>
                </a:solidFill>
              </a:rPr>
              <a:t>presignUpload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F1D1A"/>
                </a:solidFill>
              </a:rPr>
              <a:t>Lambda</a:t>
            </a:r>
            <a:endParaRPr lang="en-US" sz="1300" dirty="0"/>
          </a:p>
        </p:txBody>
      </p:sp>
      <p:sp>
        <p:nvSpPr>
          <p:cNvPr id="26" name="createReview"/>
          <p:cNvSpPr/>
          <p:nvPr/>
        </p:nvSpPr>
        <p:spPr>
          <a:xfrm>
            <a:off x="6355080" y="4114800"/>
            <a:ext cx="1737360" cy="868680"/>
          </a:xfrm>
          <a:prstGeom prst="roundRect">
            <a:avLst>
              <a:gd name="adj" fmla="val 6316"/>
            </a:avLst>
          </a:prstGeom>
          <a:solidFill>
            <a:srgbClr val="FBFAF7"/>
          </a:solidFill>
          <a:ln w="6350">
            <a:solidFill>
              <a:srgbClr val="4A443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355080" y="4114800"/>
            <a:ext cx="173736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1D1A"/>
                </a:solidFill>
              </a:rPr>
              <a:t>createReview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F1D1A"/>
                </a:solidFill>
              </a:rPr>
              <a:t>Lambda, in VPC</a:t>
            </a:r>
            <a:endParaRPr lang="en-US" sz="1300" dirty="0"/>
          </a:p>
        </p:txBody>
      </p:sp>
      <p:sp>
        <p:nvSpPr>
          <p:cNvPr id="28" name="listRankings"/>
          <p:cNvSpPr/>
          <p:nvPr/>
        </p:nvSpPr>
        <p:spPr>
          <a:xfrm>
            <a:off x="8915400" y="4114800"/>
            <a:ext cx="1737360" cy="868680"/>
          </a:xfrm>
          <a:prstGeom prst="roundRect">
            <a:avLst>
              <a:gd name="adj" fmla="val 6316"/>
            </a:avLst>
          </a:prstGeom>
          <a:solidFill>
            <a:srgbClr val="FBFAF7"/>
          </a:solidFill>
          <a:ln w="6350">
            <a:solidFill>
              <a:srgbClr val="4A443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915400" y="4114800"/>
            <a:ext cx="173736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1D1A"/>
                </a:solidFill>
              </a:rPr>
              <a:t>listRankings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F1D1A"/>
                </a:solidFill>
              </a:rPr>
              <a:t>Lambda, in VPC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1874520" y="3383280"/>
            <a:ext cx="0" cy="731520"/>
          </a:xfrm>
          <a:prstGeom prst="line">
            <a:avLst/>
          </a:prstGeom>
          <a:noFill/>
          <a:ln w="15875">
            <a:solidFill>
              <a:srgbClr val="4A4438"/>
            </a:solidFill>
            <a:prstDash val="solid"/>
            <a:tailEnd type="triangle"/>
          </a:ln>
        </p:spPr>
      </p:sp>
      <p:sp>
        <p:nvSpPr>
          <p:cNvPr id="31" name="Text 29"/>
          <p:cNvSpPr txBox="1"/>
          <p:nvPr/>
        </p:nvSpPr>
        <p:spPr>
          <a:xfrm>
            <a:off x="2011680" y="33832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558"/>
                </a:solidFill>
              </a:rPr>
              <a:t>s3:ObjectCreated</a:t>
            </a:r>
            <a:endParaRPr lang="en-US" sz="1000" dirty="0"/>
          </a:p>
        </p:txBody>
      </p:sp>
      <p:sp>
        <p:nvSpPr>
          <p:cNvPr id="32" name="RDS PostgreSQL"/>
          <p:cNvSpPr/>
          <p:nvPr/>
        </p:nvSpPr>
        <p:spPr>
          <a:xfrm>
            <a:off x="5120640" y="5440680"/>
            <a:ext cx="4937760" cy="548640"/>
          </a:xfrm>
          <a:prstGeom prst="roundRect">
            <a:avLst>
              <a:gd name="adj" fmla="val 10000"/>
            </a:avLst>
          </a:prstGeom>
          <a:solidFill>
            <a:srgbClr val="4A4438"/>
          </a:solidFill>
          <a:ln w="6350">
            <a:solidFill>
              <a:srgbClr val="4A443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120640" y="5440680"/>
            <a:ext cx="493776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BFAF7"/>
                </a:solidFill>
              </a:rPr>
              <a:t>RDS PostgreSQL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BFAF7"/>
                </a:solidFill>
              </a:rPr>
              <a:t>private, encrypted at rest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7223760" y="4983480"/>
            <a:ext cx="0" cy="457200"/>
          </a:xfrm>
          <a:prstGeom prst="line">
            <a:avLst/>
          </a:prstGeom>
          <a:noFill/>
          <a:ln w="15875">
            <a:solidFill>
              <a:srgbClr val="4A4438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9784080" y="4983480"/>
            <a:ext cx="0" cy="457200"/>
          </a:xfrm>
          <a:prstGeom prst="line">
            <a:avLst/>
          </a:prstGeom>
          <a:noFill/>
          <a:ln w="15875">
            <a:solidFill>
              <a:srgbClr val="4A4438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1874520" y="4983480"/>
            <a:ext cx="0" cy="731520"/>
          </a:xfrm>
          <a:prstGeom prst="line">
            <a:avLst/>
          </a:prstGeom>
          <a:noFill/>
          <a:ln w="15875">
            <a:solidFill>
              <a:srgbClr val="4A443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874520" y="5715000"/>
            <a:ext cx="3246120" cy="0"/>
          </a:xfrm>
          <a:prstGeom prst="line">
            <a:avLst/>
          </a:prstGeom>
          <a:noFill/>
          <a:ln w="15875">
            <a:solidFill>
              <a:srgbClr val="4A4438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31520" y="41148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Services in use, and why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63040"/>
          <a:ext cx="1069848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77724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BFAF7"/>
                          </a:solidFill>
                        </a:rPr>
                        <a:t>Service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44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BFAF7"/>
                          </a:solidFill>
                        </a:rPr>
                        <a:t>Role in Sip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443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Cognito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Email sign-in; issues the JWT every API call carries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API Gateway (HTTP API)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Routing plus JWT validation before any function runs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Lambda ×4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Presign, create review, rank drinks, process photo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S3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Review photos; object-created events drive thumbnailing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RDS PostgreSQL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Reviews, drinks, locations, and the aggregation query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VPC + security groups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Database reachable only from the Lambda security group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CloudFormation / SAM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Whole stack defined in one template, deployed by one command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1"/>
          <p:cNvSpPr/>
          <p:nvPr>
            <p:ph idx="102" type="body" hasCustomPrompt="1"/>
          </p:nvPr>
        </p:nvSpPr>
        <p:spPr>
          <a:xfrm>
            <a:off x="731520" y="141732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31520" y="41148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Infrastructure as code</a:t>
            </a:r>
            <a:endParaRPr lang="en-US" sz="3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731520" y="141732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The entire stack — VPC, subnets, security groups, RDS, S3, Cognito, API Gateway, and four Lambdas — lives in one SAM template under version control.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sam build &amp;&amp; sam deploy rebuilds the environment from scratch. We tore ours down and redeployed it twice while developing.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Secrets are deploy-time parameters, never committed. The repo ships .env.example; .env is gitignored.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Database schema is a checked-in SQL file, so the structure is reviewable in a pull request rather than clicked into a console.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31520" y="41148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What works today</a:t>
            </a:r>
            <a:endParaRPr lang="en-US" sz="3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731520" y="141732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Sign-up and sign-in through Cognito, with API calls rejected without a valid token.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Photo upload straight to S3 through a presigned URL, expiring in five minutes.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Review creation, including the one-review-per-drink constraint — posting twice updates the first review rather than creating a duplicate.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Event-driven processing: an upload triggers a Lambda that strips EXIF data, builds a thumbnail, and writes it back to the review row.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The core feature end to end — one drink name, every location serving it, ranked by average rating.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31520" y="41148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app: arriving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9728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558"/>
                </a:solidFill>
              </a:rPr>
              <a:t>Interface design — not yet built. Today’s working prototype is the API and data layer behind it.</a:t>
            </a:r>
            <a:endParaRPr lang="en-US" sz="1200" dirty="0"/>
          </a:p>
        </p:txBody>
      </p:sp>
      <p:pic>
        <p:nvPicPr>
          <p:cNvPr id="4" name="Launch" descr="/home/claude/restored/sip-repo/docs/screens/screen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070" y="1481328"/>
            <a:ext cx="1903501" cy="3931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5522976"/>
            <a:ext cx="253060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1D1A"/>
                </a:solidFill>
              </a:rPr>
              <a:t>Launch</a:t>
            </a:r>
            <a:endParaRPr lang="en-US" sz="12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A4438"/>
                </a:solidFill>
              </a:rPr>
              <a:t>Wordmark and a rotating line ride up on the pour, then the feed.</a:t>
            </a:r>
            <a:endParaRPr lang="en-US" sz="1250" dirty="0"/>
          </a:p>
        </p:txBody>
      </p:sp>
      <p:pic>
        <p:nvPicPr>
          <p:cNvPr id="6" name="Feed" descr="/home/claude/restored/sip-repo/docs/screens/screen-0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6840" y="1481328"/>
            <a:ext cx="1903501" cy="3931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3463290" y="5522976"/>
            <a:ext cx="253060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1D1A"/>
                </a:solidFill>
              </a:rPr>
              <a:t>Feed</a:t>
            </a:r>
            <a:endParaRPr lang="en-US" sz="12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A4438"/>
                </a:solidFill>
              </a:rPr>
              <a:t>The drink is the headline; the shop sits under it in grey.</a:t>
            </a:r>
            <a:endParaRPr lang="en-US" sz="1250" dirty="0"/>
          </a:p>
        </p:txBody>
      </p:sp>
      <p:pic>
        <p:nvPicPr>
          <p:cNvPr id="8" name="Replies" descr="/home/claude/restored/sip-repo/docs/screens/screen-0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8610" y="1481328"/>
            <a:ext cx="1903501" cy="393192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6195060" y="5522976"/>
            <a:ext cx="253060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1D1A"/>
                </a:solidFill>
              </a:rPr>
              <a:t>Replies</a:t>
            </a:r>
            <a:endParaRPr lang="en-US" sz="12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A4438"/>
                </a:solidFill>
              </a:rPr>
              <a:t>Questions answered by whoever was just there, threaded under the review.</a:t>
            </a:r>
            <a:endParaRPr lang="en-US" sz="1250" dirty="0"/>
          </a:p>
        </p:txBody>
      </p:sp>
      <p:pic>
        <p:nvPicPr>
          <p:cNvPr id="10" name="Post tab" descr="/home/claude/restored/sip-repo/docs/screens/screen-0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40380" y="1481328"/>
            <a:ext cx="1903501" cy="3931920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8926830" y="5522976"/>
            <a:ext cx="253060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1D1A"/>
                </a:solidFill>
              </a:rPr>
              <a:t>Post tab</a:t>
            </a:r>
            <a:endParaRPr lang="en-US" sz="12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A4438"/>
                </a:solidFill>
              </a:rPr>
              <a:t>No blank composer anywhere — every post starts with a drink.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31520" y="41148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app: finding a drink</a:t>
            </a:r>
            <a:endParaRPr lang="en-US" sz="3000" dirty="0"/>
          </a:p>
        </p:txBody>
      </p:sp>
      <p:pic>
        <p:nvPicPr>
          <p:cNvPr id="3" name="Compare" descr="/home/claude/restored/sip-repo/docs/screens/screen-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893" y="1371600"/>
            <a:ext cx="1903501" cy="39319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5413248"/>
            <a:ext cx="19842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1D1A"/>
                </a:solidFill>
              </a:rPr>
              <a:t>Compare</a:t>
            </a:r>
            <a:endParaRPr lang="en-US" sz="12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A4438"/>
                </a:solidFill>
              </a:rPr>
              <a:t>One drink, every shop that makes it, ranked on that drink alone.</a:t>
            </a:r>
            <a:endParaRPr lang="en-US" sz="1250" dirty="0"/>
          </a:p>
        </p:txBody>
      </p:sp>
      <p:pic>
        <p:nvPicPr>
          <p:cNvPr id="5" name="Best in area" descr="/home/claude/restored/sip-repo/docs/screens/screen-0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7309" y="1371600"/>
            <a:ext cx="1903501" cy="39319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2916936" y="5413248"/>
            <a:ext cx="19842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1D1A"/>
                </a:solidFill>
              </a:rPr>
              <a:t>Best in area</a:t>
            </a:r>
            <a:endParaRPr lang="en-US" sz="12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A4438"/>
                </a:solidFill>
              </a:rPr>
              <a:t>Top ten by neighbourhood, with movement since last week.</a:t>
            </a:r>
            <a:endParaRPr lang="en-US" sz="1250" dirty="0"/>
          </a:p>
        </p:txBody>
      </p:sp>
      <p:pic>
        <p:nvPicPr>
          <p:cNvPr id="7" name="Trending" descr="/home/claude/restored/sip-repo/docs/screens/screen-0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2725" y="1371600"/>
            <a:ext cx="1903501" cy="393192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5102352" y="5413248"/>
            <a:ext cx="19842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1D1A"/>
                </a:solidFill>
              </a:rPr>
              <a:t>Trending</a:t>
            </a:r>
            <a:endParaRPr lang="en-US" sz="12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A4438"/>
                </a:solidFill>
              </a:rPr>
              <a:t>Ranked by how fast reviews arrive, not by rating.</a:t>
            </a:r>
            <a:endParaRPr lang="en-US" sz="1250" dirty="0"/>
          </a:p>
        </p:txBody>
      </p:sp>
      <p:pic>
        <p:nvPicPr>
          <p:cNvPr id="9" name="Map" descr="/home/claude/restored/sip-repo/docs/screens/screen-05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8141" y="1371600"/>
            <a:ext cx="1903501" cy="393192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7287768" y="5413248"/>
            <a:ext cx="19842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1D1A"/>
                </a:solidFill>
              </a:rPr>
              <a:t>Map</a:t>
            </a:r>
            <a:endParaRPr lang="en-US" sz="12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A4438"/>
                </a:solidFill>
              </a:rPr>
              <a:t>Score pins rather than logos; tapping one opens the shop below.</a:t>
            </a:r>
            <a:endParaRPr lang="en-US" sz="1250" dirty="0"/>
          </a:p>
        </p:txBody>
      </p:sp>
      <p:pic>
        <p:nvPicPr>
          <p:cNvPr id="11" name="Location" descr="/home/claude/restored/sip-repo/docs/screens/screen-06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13557" y="1371600"/>
            <a:ext cx="1903501" cy="3931920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9473184" y="5413248"/>
            <a:ext cx="19842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1D1A"/>
                </a:solidFill>
              </a:rPr>
              <a:t>Location</a:t>
            </a:r>
            <a:endParaRPr lang="en-US" sz="12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A4438"/>
                </a:solidFill>
              </a:rPr>
              <a:t>Hours and photo from Google Places; the menu is built from reviews.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31520" y="41148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app: posting a review</a:t>
            </a:r>
            <a:endParaRPr lang="en-US" sz="3000" dirty="0"/>
          </a:p>
        </p:txBody>
      </p:sp>
      <p:pic>
        <p:nvPicPr>
          <p:cNvPr id="3" name="Step 1" descr="/home/claude/restored/sip-repo/docs/screens/screen-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070" y="1371600"/>
            <a:ext cx="1903501" cy="39319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5413248"/>
            <a:ext cx="253060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1D1A"/>
                </a:solidFill>
              </a:rPr>
              <a:t>Step 1</a:t>
            </a:r>
            <a:endParaRPr lang="en-US" sz="12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A4438"/>
                </a:solidFill>
              </a:rPr>
              <a:t>Location confirmed rather than silently taken. Photo required, EXIF stripped.</a:t>
            </a:r>
            <a:endParaRPr lang="en-US" sz="1250" dirty="0"/>
          </a:p>
        </p:txBody>
      </p:sp>
      <p:pic>
        <p:nvPicPr>
          <p:cNvPr id="5" name="Step 2" descr="/home/claude/restored/sip-repo/docs/screens/screen-1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6840" y="1371600"/>
            <a:ext cx="1903501" cy="39319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3463290" y="5413248"/>
            <a:ext cx="253060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1D1A"/>
                </a:solidFill>
              </a:rPr>
              <a:t>Step 2</a:t>
            </a:r>
            <a:endParaRPr lang="en-US" sz="12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A4438"/>
                </a:solidFill>
              </a:rPr>
              <a:t>Rating, and whether the order was modified. Modified drinks score separately.</a:t>
            </a:r>
            <a:endParaRPr lang="en-US" sz="1250" dirty="0"/>
          </a:p>
        </p:txBody>
      </p:sp>
      <p:pic>
        <p:nvPicPr>
          <p:cNvPr id="7" name="Step 3" descr="/home/claude/restored/sip-repo/docs/screens/screen-17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8610" y="1371600"/>
            <a:ext cx="1903501" cy="393192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6195060" y="5413248"/>
            <a:ext cx="253060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1D1A"/>
                </a:solidFill>
              </a:rPr>
              <a:t>Step 3</a:t>
            </a:r>
            <a:endParaRPr lang="en-US" sz="12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A4438"/>
                </a:solidFill>
              </a:rPr>
              <a:t>Optional note, then a summary before posting.</a:t>
            </a:r>
            <a:endParaRPr lang="en-US" sz="1250" dirty="0"/>
          </a:p>
        </p:txBody>
      </p:sp>
      <p:pic>
        <p:nvPicPr>
          <p:cNvPr id="9" name="Review again" descr="/home/claude/restored/sip-repo/docs/screens/screen-1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40380" y="1371600"/>
            <a:ext cx="1903501" cy="393192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8926830" y="5413248"/>
            <a:ext cx="253060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1D1A"/>
                </a:solidFill>
              </a:rPr>
              <a:t>Review again</a:t>
            </a:r>
            <a:endParaRPr lang="en-US" sz="12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A4438"/>
                </a:solidFill>
              </a:rPr>
              <a:t>Posting the same drink twice updates the first review instead of duplicating.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31520" y="41148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app: coming back</a:t>
            </a:r>
            <a:endParaRPr lang="en-US" sz="3000" dirty="0"/>
          </a:p>
        </p:txBody>
      </p:sp>
      <p:pic>
        <p:nvPicPr>
          <p:cNvPr id="3" name="Profile" descr="/home/claude/restored/sip-repo/docs/screens/screen-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070" y="1371600"/>
            <a:ext cx="1903501" cy="39319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5413248"/>
            <a:ext cx="253060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1D1A"/>
                </a:solidFill>
              </a:rPr>
              <a:t>Profile</a:t>
            </a:r>
            <a:endParaRPr lang="en-US" sz="12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A4438"/>
                </a:solidFill>
              </a:rPr>
              <a:t>Rank, three stats, then a grid with each score burned into the tile.</a:t>
            </a:r>
            <a:endParaRPr lang="en-US" sz="1250" dirty="0"/>
          </a:p>
        </p:txBody>
      </p:sp>
      <p:pic>
        <p:nvPicPr>
          <p:cNvPr id="5" name="Ranks" descr="/home/claude/restored/sip-repo/docs/screens/screen-1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6840" y="1371600"/>
            <a:ext cx="1903501" cy="39319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3463290" y="5413248"/>
            <a:ext cx="253060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1D1A"/>
                </a:solidFill>
              </a:rPr>
              <a:t>Ranks</a:t>
            </a:r>
            <a:endParaRPr lang="en-US" sz="12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A4438"/>
                </a:solidFill>
              </a:rPr>
              <a:t>Six tiers, earned by reviews with a photo and a note. Replies do not count.</a:t>
            </a:r>
            <a:endParaRPr lang="en-US" sz="1250" dirty="0"/>
          </a:p>
        </p:txBody>
      </p:sp>
      <p:pic>
        <p:nvPicPr>
          <p:cNvPr id="7" name="Saved" descr="/home/claude/restored/sip-repo/docs/screens/screen-1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8610" y="1371600"/>
            <a:ext cx="1903501" cy="393192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6195060" y="5413248"/>
            <a:ext cx="253060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1D1A"/>
                </a:solidFill>
              </a:rPr>
              <a:t>Saved</a:t>
            </a:r>
            <a:endParaRPr lang="en-US" sz="12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A4438"/>
                </a:solidFill>
              </a:rPr>
              <a:t>Drinks to try, with open-now status so the list is actionable.</a:t>
            </a:r>
            <a:endParaRPr lang="en-US" sz="1250" dirty="0"/>
          </a:p>
        </p:txBody>
      </p:sp>
      <p:pic>
        <p:nvPicPr>
          <p:cNvPr id="9" name="Empty state" descr="/home/claude/restored/sip-repo/docs/screens/screen-1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40380" y="1371600"/>
            <a:ext cx="1903501" cy="393192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8926830" y="5413248"/>
            <a:ext cx="253060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1D1A"/>
                </a:solidFill>
              </a:rPr>
              <a:t>Empty state</a:t>
            </a:r>
            <a:endParaRPr lang="en-US" sz="12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A4438"/>
                </a:solidFill>
              </a:rPr>
              <a:t>Names nearby unreviewed shops and asks the user to be first.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31520" y="41148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What was harder than expected</a:t>
            </a:r>
            <a:endParaRPr lang="en-US" sz="3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731520" y="141732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A Lambda inside a VPC has no route to the internet. Our first design called Cognito from inside the function, which meant a NAT gateway at about $32/month. Moving validation to the API Gateway authorizer removed the dependency entirely.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CloudFormation refused the stack over a circular dependency: every function referenced the photo bucket, while the bucket referenced the thumbnail function for its event trigger. Fixed by naming the bucket deterministically and declaring the S3 notification explicitly.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An organisation policy denies most services in us-east-1, so the stack runs in us-east-2. A service control policy cannot be overridden by IAM permissions.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Expressing "one review per unmodified drink" took a partial unique index rather than a plain constraint, since modified drinks are deliberately allowed to duplicate.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31520" y="41148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Remaining work, risks, and the plan</a:t>
            </a:r>
            <a:endParaRPr lang="en-US" sz="3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731520" y="141732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4A7C62"/>
                </a:solidFill>
              </a:rPr>
              <a:t>To build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Expo client replacing the demo page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Menu import so drinks are not seeded by hand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CloudFront in front of the photo bucket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A8503C"/>
                </a:solidFill>
              </a:rPr>
              <a:t>Risks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Menu data entry is manual work, not a coding problem — mitigated by seeding a handful of shops rather than all of DFW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Two-person team with overlapping deadlines; scope is deliberately narrow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p">
  <a:themeElements>
    <a:clrScheme name="Sip">
      <a:dk1>
        <a:srgbClr val="1F1D1A"/>
      </a:dk1>
      <a:lt1>
        <a:srgbClr val="FBFAF7"/>
      </a:lt1>
      <a:dk2>
        <a:srgbClr val="4A4438"/>
      </a:dk2>
      <a:lt2>
        <a:srgbClr val="EFECE5"/>
      </a:lt2>
      <a:accent1>
        <a:srgbClr val="4A7C62"/>
      </a:accent1>
      <a:accent2>
        <a:srgbClr val="8C6239"/>
      </a:accent2>
      <a:accent3>
        <a:srgbClr val="6B6558"/>
      </a:accent3>
      <a:accent4>
        <a:srgbClr val="A8503C"/>
      </a:accent4>
      <a:accent5>
        <a:srgbClr val="7FA68A"/>
      </a:accent5>
      <a:accent6>
        <a:srgbClr val="C9C2B4"/>
      </a:accent6>
      <a:hlink>
        <a:srgbClr val="4A7C62"/>
      </a:hlink>
      <a:folHlink>
        <a:srgbClr val="6B6558"/>
      </a:folHlink>
    </a:clrScheme>
    <a:fontScheme name="Sip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Sip — Midpoint Evaluation</dc:title>
  <dc:subject>PptxGenJS Presentation</dc:subject>
  <dc:creator>Oscar Barrios Jimenez, Evan Willsey</dc:creator>
  <cp:lastModifiedBy>Oscar Barrios Jimenez, Evan Willsey</cp:lastModifiedBy>
  <cp:revision>1</cp:revision>
  <dcterms:created xsi:type="dcterms:W3CDTF">2026-10-14T21:11:47Z</dcterms:created>
  <dcterms:modified xsi:type="dcterms:W3CDTF">2026-10-14T21:11:47Z</dcterms:modified>
</cp:coreProperties>
</file>